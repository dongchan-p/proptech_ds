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F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0" y="502920"/>
            <a:ext cx="3044952" cy="4114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502920"/>
            <a:ext cx="30449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5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DATA REAL ESTATE · EP.01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0" b="1" i="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18년의 명암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수도권 79개 구, 운명이 갈렸다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40480"/>
            <a:ext cx="4297680" cy="2103120"/>
          </a:xfrm>
          <a:prstGeom prst="roundRect">
            <a:avLst>
              <a:gd name="adj" fmla="val 6000"/>
            </a:avLst>
          </a:prstGeom>
          <a:solidFill>
            <a:srgbClr val="0F1518"/>
          </a:solidFill>
          <a:ln w="25400">
            <a:solidFill>
              <a:srgbClr val="C7F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776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700">
                <a:solidFill>
                  <a:srgbClr val="C7F11D"/>
                </a:solidFill>
                <a:latin typeface="맑은 고딕"/>
                <a:ea typeface="맑은 고딕"/>
                <a:cs typeface="맑은 고딕"/>
              </a:rPr>
              <a:t>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1" i="0">
                <a:solidFill>
                  <a:srgbClr val="C7F11D"/>
                </a:solidFill>
                <a:latin typeface="Arial Black"/>
                <a:ea typeface="맑은 고딕"/>
                <a:cs typeface="맑은 고딕"/>
              </a:rPr>
              <a:t>6.4×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↑ 가장 많이 오른 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4297680" cy="2103120"/>
          </a:xfrm>
          <a:prstGeom prst="roundRect">
            <a:avLst>
              <a:gd name="adj" fmla="val 6000"/>
            </a:avLst>
          </a:prstGeom>
          <a:solidFill>
            <a:srgbClr val="0F1518"/>
          </a:solidFill>
          <a:ln w="25400">
            <a:solidFill>
              <a:srgbClr val="1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9776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700">
                <a:solidFill>
                  <a:srgbClr val="1FE2E8"/>
                </a:solidFill>
                <a:latin typeface="맑은 고딕"/>
                <a:ea typeface="맑은 고딕"/>
                <a:cs typeface="맑은 고딕"/>
              </a:rPr>
              <a:t>BOTTOM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1" i="0">
                <a:solidFill>
                  <a:srgbClr val="1FE2E8"/>
                </a:solidFill>
                <a:latin typeface="Arial Black"/>
                <a:ea typeface="맑은 고딕"/>
                <a:cs typeface="맑은 고딕"/>
              </a:rPr>
              <a:t>1.4×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4864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↓ 가장 적게 오른 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5720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  <a:ea typeface="맑은 고딕"/>
                <a:cs typeface="맑은 고딕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500">
                <a:solidFill>
                  <a:srgbClr val="60686C"/>
                </a:solidFill>
                <a:latin typeface="맑은 고딕"/>
                <a:ea typeface="맑은 고딕"/>
                <a:cs typeface="맑은 고딕"/>
              </a:rPr>
              <a:t>데이터로 보는 부동산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