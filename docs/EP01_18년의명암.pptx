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수도권 평균 ㎡당 (만원)</c:v>
                </c:pt>
              </c:strCache>
            </c:strRef>
          </c:tx>
          <c:spPr>
            <a:ln w="38100">
              <a:solidFill>
                <a:srgbClr val="1FE2E8"/>
              </a:solidFill>
            </a:ln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380</c:v>
                </c:pt>
                <c:pt idx="1">
                  <c:v>360</c:v>
                </c:pt>
                <c:pt idx="2">
                  <c:v>365</c:v>
                </c:pt>
                <c:pt idx="3">
                  <c:v>380</c:v>
                </c:pt>
                <c:pt idx="4">
                  <c:v>360</c:v>
                </c:pt>
                <c:pt idx="5">
                  <c:v>350</c:v>
                </c:pt>
                <c:pt idx="6">
                  <c:v>360</c:v>
                </c:pt>
                <c:pt idx="7">
                  <c:v>395</c:v>
                </c:pt>
                <c:pt idx="8">
                  <c:v>430</c:v>
                </c:pt>
                <c:pt idx="9">
                  <c:v>480</c:v>
                </c:pt>
                <c:pt idx="10">
                  <c:v>555</c:v>
                </c:pt>
                <c:pt idx="11">
                  <c:v>620</c:v>
                </c:pt>
                <c:pt idx="12">
                  <c:v>760</c:v>
                </c:pt>
                <c:pt idx="13">
                  <c:v>980</c:v>
                </c:pt>
                <c:pt idx="14">
                  <c:v>1010</c:v>
                </c:pt>
                <c:pt idx="15">
                  <c:v>880</c:v>
                </c:pt>
                <c:pt idx="16">
                  <c:v>920</c:v>
                </c:pt>
                <c:pt idx="17">
                  <c:v>1010</c:v>
                </c:pt>
                <c:pt idx="18">
                  <c:v>1050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0686C"/>
            </a:solidFill>
          </a:ln>
        </c:spPr>
        <c:txPr>
          <a:bodyPr/>
          <a:lstStyle/>
          <a:p>
            <a:pPr>
              <a:defRPr sz="1000">
                <a:solidFill>
                  <a:srgbClr val="9BA3A8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60686C"/>
            </a:solidFill>
          </a:ln>
        </c:spPr>
        <c:txPr>
          <a:bodyPr/>
          <a:lstStyle/>
          <a:p>
            <a:pPr>
              <a:defRPr sz="1000">
                <a:solidFill>
                  <a:srgbClr val="9BA3A8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시·구 개수</c:v>
                </c:pt>
              </c:strCache>
            </c:strRef>
          </c:tx>
          <c:spPr>
            <a:solidFill>
              <a:srgbClr val="1FE2E8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1.0~1.5</c:v>
                </c:pt>
                <c:pt idx="1">
                  <c:v>1.5~2.0</c:v>
                </c:pt>
                <c:pt idx="2">
                  <c:v>2.0~2.5</c:v>
                </c:pt>
                <c:pt idx="3">
                  <c:v>2.5~3.0</c:v>
                </c:pt>
                <c:pt idx="4">
                  <c:v>3.0~3.5</c:v>
                </c:pt>
                <c:pt idx="5">
                  <c:v>3.5~4.0</c:v>
                </c:pt>
                <c:pt idx="6">
                  <c:v>4.0~4.5</c:v>
                </c:pt>
                <c:pt idx="7">
                  <c:v>4.5~5.0</c:v>
                </c:pt>
                <c:pt idx="8">
                  <c:v>5.0~5.5</c:v>
                </c:pt>
                <c:pt idx="9">
                  <c:v>5.5~6.0</c:v>
                </c:pt>
                <c:pt idx="10">
                  <c:v>6.0~6.5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18</c:v>
                </c:pt>
                <c:pt idx="4">
                  <c:v>12</c:v>
                </c:pt>
                <c:pt idx="5">
                  <c:v>9</c:v>
                </c:pt>
                <c:pt idx="6">
                  <c:v>6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9BA3A8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0686C"/>
            </a:solidFill>
          </a:ln>
        </c:spPr>
        <c:txPr>
          <a:bodyPr/>
          <a:lstStyle/>
          <a:p>
            <a:pPr>
              <a:defRPr sz="900">
                <a:solidFill>
                  <a:srgbClr val="9BA3A8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60686C"/>
            </a:solidFill>
          </a:ln>
        </c:spPr>
        <c:txPr>
          <a:bodyPr/>
          <a:lstStyle/>
          <a:p>
            <a:pPr>
              <a:defRPr sz="900">
                <a:solidFill>
                  <a:srgbClr val="9BA3A8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600200"/>
            <a:ext cx="7616952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600200"/>
            <a:ext cx="7616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spc="6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DATA REAL ESTATE  ·  EP.01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0" b="1" i="0" spc="-5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THE 18-YEAR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18년의 명암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2008년 그날 이후, 수도권 79개 시·구에 무슨 일이 있었나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데이터로 보는 부동산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당신의 동네는 어디에 있었습니까?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누군가는 </a:t>
            </a:r>
            <a:r>
              <a:rPr sz="44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6배</a:t>
            </a: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 누군가는 </a:t>
            </a:r>
            <a:r>
              <a:rPr sz="44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1.4배.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663440"/>
            <a:ext cx="1216152" cy="54864"/>
          </a:xfrm>
          <a:prstGeom prst="rect">
            <a:avLst/>
          </a:prstGeom>
          <a:solidFill>
            <a:srgbClr val="C7F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EP.01 분석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ANALYSIS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48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수도권 79개 시·구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서울 25개 자치구
인천 8개 자치구
경기 일반구 22개
경기 단독시 24개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148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C7F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546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아파트 ㎡당 매매가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7764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국토교통부 실거래가
월별 단순평균 산출
명목가격 사용
(인플레 미보정)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78308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39" y="2148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2148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834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1546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18년 4개월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397764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2008년 1월
        ↓
2026년 4월
총 219개월의 거래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데이터 출처 · 국토교통부 실거래가 공개시스템  |  분석 단위 · ㎡당 매매가 (월별 단순평균)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수도권 평균 ㎡당 가격, 2008 →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MARKET TIMELINE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0020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828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한눈에 보면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28600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2.7배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6576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18년간 수도권 평균 ㎡당 가격은
약 2.7배 올랐습니다.
하지만 이 평균값은
중요한 사실을 가립니다.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* 2026년은 4월까지 누적 평균. 수치는 분석 진행 후 확정값으로 교체 예정 (v1 예시)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18년 동안 무슨 일이 있었나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POLICY · RATE 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37560"/>
            <a:ext cx="10561320" cy="9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3246120"/>
            <a:ext cx="201168" cy="201168"/>
          </a:xfrm>
          <a:prstGeom prst="ellipse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" y="3154680"/>
            <a:ext cx="384048" cy="38404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7451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9456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글로벌
금융위기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수도권 동반 하락 시작</a:t>
            </a:r>
          </a:p>
        </p:txBody>
      </p:sp>
      <p:sp>
        <p:nvSpPr>
          <p:cNvPr id="11" name="Oval 10"/>
          <p:cNvSpPr/>
          <p:nvPr/>
        </p:nvSpPr>
        <p:spPr>
          <a:xfrm>
            <a:off x="2619756" y="3246120"/>
            <a:ext cx="201168" cy="201168"/>
          </a:xfrm>
          <a:prstGeom prst="ellipse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28316" y="3154680"/>
            <a:ext cx="384048" cy="38404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9738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7380" y="402336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빚내서
집사라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594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LTV·DTI 완화, 회복 점화</a:t>
            </a:r>
          </a:p>
        </p:txBody>
      </p:sp>
      <p:sp>
        <p:nvSpPr>
          <p:cNvPr id="16" name="Oval 15"/>
          <p:cNvSpPr/>
          <p:nvPr/>
        </p:nvSpPr>
        <p:spPr>
          <a:xfrm>
            <a:off x="4334255" y="3246120"/>
            <a:ext cx="201168" cy="201168"/>
          </a:xfrm>
          <a:prstGeom prst="ellipse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42816" y="3154680"/>
            <a:ext cx="384048" cy="38404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187451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219456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8·2 대책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39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강남권 규제 강화</a:t>
            </a:r>
          </a:p>
        </p:txBody>
      </p:sp>
      <p:sp>
        <p:nvSpPr>
          <p:cNvPr id="21" name="Oval 20"/>
          <p:cNvSpPr/>
          <p:nvPr/>
        </p:nvSpPr>
        <p:spPr>
          <a:xfrm>
            <a:off x="6048755" y="3246120"/>
            <a:ext cx="201168" cy="201168"/>
          </a:xfrm>
          <a:prstGeom prst="ellipse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57316" y="3154680"/>
            <a:ext cx="384048" cy="38404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6379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6379" y="402336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분양가
상한제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민간택지 확대 적용</a:t>
            </a:r>
          </a:p>
        </p:txBody>
      </p:sp>
      <p:sp>
        <p:nvSpPr>
          <p:cNvPr id="26" name="Oval 25"/>
          <p:cNvSpPr/>
          <p:nvPr/>
        </p:nvSpPr>
        <p:spPr>
          <a:xfrm>
            <a:off x="7763256" y="3246120"/>
            <a:ext cx="201168" cy="201168"/>
          </a:xfrm>
          <a:prstGeom prst="ellipse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71815" y="3154680"/>
            <a:ext cx="384048" cy="38404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79" y="187451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219456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6·17 / 7·10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임대차 3법, 풍선효과</a:t>
            </a:r>
          </a:p>
        </p:txBody>
      </p:sp>
      <p:sp>
        <p:nvSpPr>
          <p:cNvPr id="31" name="Oval 30"/>
          <p:cNvSpPr/>
          <p:nvPr/>
        </p:nvSpPr>
        <p:spPr>
          <a:xfrm>
            <a:off x="9477756" y="3246120"/>
            <a:ext cx="201168" cy="201168"/>
          </a:xfrm>
          <a:prstGeom prst="ellipse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86315" y="3154680"/>
            <a:ext cx="384048" cy="38404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538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5380" y="402336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급격한
금리인상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394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수도권 첫 동반 조정</a:t>
            </a:r>
          </a:p>
        </p:txBody>
      </p:sp>
      <p:sp>
        <p:nvSpPr>
          <p:cNvPr id="36" name="Oval 35"/>
          <p:cNvSpPr/>
          <p:nvPr/>
        </p:nvSpPr>
        <p:spPr>
          <a:xfrm>
            <a:off x="11192256" y="3246120"/>
            <a:ext cx="201168" cy="201168"/>
          </a:xfrm>
          <a:prstGeom prst="ellipse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00815" y="3154680"/>
            <a:ext cx="384048" cy="38404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69880" y="187451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19456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정상화
사이클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지역별 디커플링 본격화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거시 흐름은 알겠어요. 그런데 진짜 이야기는, 이 흐름이 79개 지역에 똑같이 닿지 않았다는 것입니다.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79개 시·구는 같은 시장이 아니었다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DISTRIBUTION OF GAINS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00200"/>
          <a:ext cx="7772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상하위 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2402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4.6배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6118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TOP 1위 구는 6.4배,
BOTTOM 1위 구는 1.4배.
같은 18년, 같은 수도권인데
결과는 완전히 달랐습니다.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가로축 · 18년 누적 상승배수  |  세로축 · 시·구 개수 (총 79개)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TOP 10 — 가장 많이 오른 시·구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WINNERS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61320" cy="457200"/>
          </a:xfrm>
          <a:prstGeom prst="roundRect">
            <a:avLst>
              <a:gd name="adj" fmla="val 5000"/>
            </a:avLst>
          </a:prstGeom>
          <a:solidFill>
            <a:srgbClr val="14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31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시 · 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916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2008년 ㎡당 (만원)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2026년 ㎡당 (만원)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2788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누적 상승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48840"/>
            <a:ext cx="10561320" cy="393192"/>
          </a:xfrm>
          <a:prstGeom prst="rect">
            <a:avLst/>
          </a:prstGeom>
          <a:solidFill>
            <a:srgbClr val="101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539032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48840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성동구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4884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48840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5,440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148840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6.4×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542032"/>
            <a:ext cx="10561320" cy="393192"/>
          </a:xfrm>
          <a:prstGeom prst="rect">
            <a:avLst/>
          </a:prstGeom>
          <a:solidFill>
            <a:srgbClr val="101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932224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542032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542032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마포구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54203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920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542032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5,150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542032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5.6×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935224"/>
            <a:ext cx="10561320" cy="393192"/>
          </a:xfrm>
          <a:prstGeom prst="rect">
            <a:avLst/>
          </a:prstGeom>
          <a:solidFill>
            <a:srgbClr val="101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325416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2935224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935224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성남시 분당구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93522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935224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4,210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935224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5.4×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718608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328416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328416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광진구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32841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880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328416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4,580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328416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5.2×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111800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721608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721608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강동구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37216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900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721608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4,500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721608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5.0×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4504992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114800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4114800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수원시 영통구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11480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560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114800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2,690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114800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4.8×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898184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507992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4507992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송파구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450799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1,420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4507992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6,670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507992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4.7×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5291376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901184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4901184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영등포구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490118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910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4901184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4,180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0" y="4901184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4.6×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5684568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294376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5294376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강남구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529437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2,260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5294376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10,170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5294376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4.5×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6077760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5687568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54480" y="5687568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용인시 수지구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2080" y="568756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540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5687568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2,380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95360" y="5687568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4.4×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다음 슬라이드부터 TOP 1·2·3을 하나씩 깊게 봅니다.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1위. 서울 성동구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TOP 1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18년 누적 상승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 spc="-10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6.4×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성수·옥수·왕십리, 강북의 새로운 중심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재개발 + IT 일자리 + 한강 접근성의 결합. 2008년 ㎡당 850만원에서 2026년 5,440만원으로, 수도권 79개 시·구 중 가장 가파른 상승을 보였습니다.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214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21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57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재개발 / 정비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3317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왕십리 뉴타운, 행당·금호 재개발 완료. 옥수·하왕십리 후속 사업 진행 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18688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355701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55701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493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교통 인프라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76732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2호선·5호선·중앙선·분당선 환승, 동부간선·강변북로 즉시 접근.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54296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99262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9262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9286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일자리 클러스터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202936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성수동 IT·스타트업 집적. 강남 출퇴근권 + 자체 일자리 부상.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2위. 서울 마포구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TOP 2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18년 누적 상승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 spc="-10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5.6×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공덕·아현·연남, 변두리에서 도심으로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2008년 ㎡당 920만원에서 2026년 5,150만원. 아현·공덕 재개발이 마포의 위상을 완전히 재정의했습니다. 도심 접근성 + 트렌디 상권의 시너지.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214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21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57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재개발 / 정비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3317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아현 뉴타운(마래푸 등), 공덕 재정비 완료. 연남·망원 상권 동반 부상.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18688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355701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55701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493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교통 인프라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76732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공항철도·5호선·6호선·경의중앙 4중 환승. 도심·강남·여의도 30분권.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54296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99262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9262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9286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상권 / 라이프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202936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연트럴파크·홍대 인접. 2030 라이프스타일 수요 강하게 흡수.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3위. 성남시 분당구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TOP 3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18년 누적 상승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 spc="-10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5.4×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판교가 만든 1기 신도시 1위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2008년 ㎡당 780만원에서 2026년 4,210만원. 1기 신도시 중 유일하게 강남 수준 상승률을 기록. 판교 테크밸리 효과가 전 분당으로 확산되었습니다.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214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21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57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일자리 클러스터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3317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판교 1·2 테크노밸리 입주. 카카오·네이버·엔씨소프트 등 IT 대기업 본사.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18688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355701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55701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493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교통 인프라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76732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신분당선 강남 직결, GTX-A 성남역 개통, 경강선·8호선 환승.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54296"/>
            <a:ext cx="5074920" cy="13258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9525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99262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9262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9286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학군 / 정주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202936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분당·서현·이매·정자 학원가 형성. 1기 신도시 노후화 우려를 상쇄.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BOTTOM 10 — 가장 적게 오른 시·구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LAGGARDS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61320" cy="457200"/>
          </a:xfrm>
          <a:prstGeom prst="roundRect">
            <a:avLst>
              <a:gd name="adj" fmla="val 5000"/>
            </a:avLst>
          </a:prstGeom>
          <a:solidFill>
            <a:srgbClr val="14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31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시 · 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916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2008년 ㎡당 (만원)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2026년 ㎡당 (만원)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2788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 spc="2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누적 상승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39032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48840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안성시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4884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48840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780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48840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2.9×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32224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542032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542032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여주시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54203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542032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660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542032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2.8×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325416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935224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935224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93522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935224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590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935224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2.7×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718608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328416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328416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양주시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32841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328416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680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328416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2.6×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111800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721608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3721608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평택시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7216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310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721608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770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721608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2.5×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504992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114800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4114800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동두천시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411480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114800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540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114800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2.4×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898184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507992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76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507992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인천 동구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450799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507992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640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4507992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2.3×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4901184"/>
            <a:ext cx="10561320" cy="393192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" y="5291376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901184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06070"/>
                </a:solidFill>
                <a:latin typeface="Arial Black"/>
                <a:ea typeface="맑은 고딕"/>
                <a:cs typeface="맑은 고딕"/>
              </a:rPr>
              <a:t>77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54480" y="4901184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인천 중구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490118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320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901184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680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901184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E06070"/>
                </a:solidFill>
                <a:latin typeface="Arial Black"/>
                <a:ea typeface="맑은 고딕"/>
                <a:cs typeface="맑은 고딕"/>
              </a:rPr>
              <a:t>2.1×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5294376"/>
            <a:ext cx="10561320" cy="393192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" y="5684568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294376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06070"/>
                </a:solidFill>
                <a:latin typeface="Arial Black"/>
                <a:ea typeface="맑은 고딕"/>
                <a:cs typeface="맑은 고딕"/>
              </a:rPr>
              <a:t>78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" y="5294376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이천시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12080" y="529437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5294376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470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294376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E06070"/>
                </a:solidFill>
                <a:latin typeface="Arial Black"/>
                <a:ea typeface="맑은 고딕"/>
                <a:cs typeface="맑은 고딕"/>
              </a:rPr>
              <a:t>1.9×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5687568"/>
            <a:ext cx="10561320" cy="393192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2960" y="6077760"/>
            <a:ext cx="10561320" cy="3000"/>
          </a:xfrm>
          <a:prstGeom prst="rect">
            <a:avLst/>
          </a:prstGeom>
          <a:solidFill>
            <a:srgbClr val="2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5687568"/>
            <a:ext cx="7315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06070"/>
                </a:solidFill>
                <a:latin typeface="Arial Black"/>
                <a:ea typeface="맑은 고딕"/>
                <a:cs typeface="맑은 고딕"/>
              </a:rPr>
              <a:t>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54480" y="5687568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가평군 / 연천군 (참고)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2080" y="568756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9BA3A8"/>
                </a:solidFill>
                <a:latin typeface="Arial Black"/>
                <a:ea typeface="맑은 고딕"/>
                <a:cs typeface="맑은 고딕"/>
              </a:rPr>
              <a:t>200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5687568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280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95360" y="5687568"/>
            <a:ext cx="278891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E06070"/>
                </a:solidFill>
                <a:latin typeface="Arial Black"/>
                <a:ea typeface="맑은 고딕"/>
                <a:cs typeface="맑은 고딕"/>
              </a:rPr>
              <a:t>1.4×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* 가평군·연천군은 거래량이 적어 참고치. 다음 슬라이드에서 하위 1·2·3위만 묶어서 봅니다.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덜 오른 데에는 이유가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BOTTOM 1·2·3 ·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06070"/>
                </a:solidFill>
                <a:latin typeface="맑은 고딕"/>
                <a:ea typeface="맑은 고딕"/>
                <a:cs typeface="맑은 고딕"/>
              </a:rPr>
              <a:t>BOTTOM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가평군·연천군 (참고)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1.4×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389120"/>
            <a:ext cx="457200" cy="8000"/>
          </a:xfrm>
          <a:prstGeom prst="rect">
            <a:avLst/>
          </a:prstGeom>
          <a:solidFill>
            <a:srgbClr val="C7F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왜?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수도권 외곽 면지역, 아파트 공급·거래 자체가 희박. 인구 정체와 노후 단지 비중이 결정적 요인.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06070"/>
                </a:solidFill>
                <a:latin typeface="맑은 고딕"/>
                <a:ea typeface="맑은 고딕"/>
                <a:cs typeface="맑은 고딕"/>
              </a:rPr>
              <a:t>BOTTOM 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290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1.9×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389120"/>
            <a:ext cx="457200" cy="8000"/>
          </a:xfrm>
          <a:prstGeom prst="rect">
            <a:avLst/>
          </a:prstGeom>
          <a:solidFill>
            <a:srgbClr val="C7F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480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왜?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7548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SK하이닉스 일자리에도 불구하고 산업도시 특유의 단지형 공급 한계 + 인근 신도시 대체재 효과.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78308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21488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06070"/>
                </a:solidFill>
                <a:latin typeface="맑은 고딕"/>
                <a:ea typeface="맑은 고딕"/>
                <a:cs typeface="맑은 고딕"/>
              </a:rPr>
              <a:t>BOTTOM 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5146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인천 중구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34290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2.1×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39" y="4389120"/>
            <a:ext cx="457200" cy="8000"/>
          </a:xfrm>
          <a:prstGeom prst="rect">
            <a:avLst/>
          </a:prstGeom>
          <a:solidFill>
            <a:srgbClr val="C7F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9" y="4480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왜?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47548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신항·구도심 노후가 누적된 구간. 청라·송도(연수구)로 수요가 빠지면서 18년 평균 상승률이 가장 낮은 자치구.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공통 분모 · 일자리 부족 + 도심 재생 정체 + 인근 신축 신도시로의 수요 이탈.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18년 동안, 수도권은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하나의 시장이 아니었습니다.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그것은 79개의 다른 시장이었습니다.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983480"/>
            <a:ext cx="1216152" cy="54864"/>
          </a:xfrm>
          <a:prstGeom prst="rect">
            <a:avLst/>
          </a:prstGeom>
          <a:solidFill>
            <a:srgbClr val="C7F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그래서, 평균을 보지 말고 동네를 봐야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64008" cy="502920"/>
          </a:xfrm>
          <a:prstGeom prst="rect">
            <a:avLst/>
          </a:prstGeom>
          <a:solidFill>
            <a:srgbClr val="1F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편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4114800" cy="420624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9050">
            <a:solidFill>
              <a:srgbClr val="C7F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5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데이터로
보는
부동산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구독 · 알림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주 1회, 데이터 한 장으로
부동산 시장을 정리합니다.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83080"/>
            <a:ext cx="6400800" cy="20116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0116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EP.02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37744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강남 3구 vs 노도강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063240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18년 격차의 진짜 이유 — 일자리·교통·정비. 한강의 남과 북, 무엇이 가장 결정적이었나.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931920"/>
            <a:ext cx="6400800" cy="2011680"/>
          </a:xfrm>
          <a:prstGeom prst="roundRect">
            <a:avLst>
              <a:gd name="adj" fmla="val 4000"/>
            </a:avLst>
          </a:prstGeom>
          <a:solidFill>
            <a:srgbClr val="0F1518"/>
          </a:solidFill>
          <a:ln w="12700">
            <a:solidFill>
              <a:srgbClr val="1A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41605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EP.03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52628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경기 신도시 성적표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212080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BA3A8"/>
                </a:solidFill>
                <a:latin typeface="맑은 고딕"/>
                <a:ea typeface="맑은 고딕"/>
                <a:cs typeface="맑은 고딕"/>
              </a:rPr>
              <a:t>1기·2기·3기 신도시를 한 화면에. 판교의 승리, 동탄의 도전, 검단·운정의 미래.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출처 · 국토교통부 실거래가 공개시스템   |   분석 · 데이터로 보는 부동산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